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A1A31"/>
    <a:srgbClr val="F1CFD7"/>
    <a:srgbClr val="FB879A"/>
    <a:srgbClr val="F994AA"/>
    <a:srgbClr val="FF2D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67"/>
  </p:normalViewPr>
  <p:slideViewPr>
    <p:cSldViewPr snapToGrid="0">
      <p:cViewPr>
        <p:scale>
          <a:sx n="83" d="100"/>
          <a:sy n="83" d="100"/>
        </p:scale>
        <p:origin x="512" y="7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1E8FD-A29D-C7AD-EBBF-B5AB21FE91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9BF778-B850-55FE-7026-896260B009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608846-F3CE-E66A-FFEA-59242225C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4900C-460B-3845-8518-31FFF519E67C}" type="datetimeFigureOut">
              <a:rPr lang="en-US" smtClean="0"/>
              <a:t>7/18/26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CB5125-49E1-9F4C-1DBD-1F26AB7DC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C91DA5-0173-A4D9-71F0-EE4F8AE7A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F8B19-5130-BB4C-9790-D59818FAE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724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B9243-88C2-178E-55E0-BDD5BF693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9B3AB7-6D9E-AAA0-6C86-C9F3A1ED83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420FDF-F649-F1D0-234B-5B7588302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4900C-460B-3845-8518-31FFF519E67C}" type="datetimeFigureOut">
              <a:rPr lang="en-US" smtClean="0"/>
              <a:t>7/18/26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A505DE-A047-7052-D1CA-25439AD34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A0F7A6-A025-71B3-CF49-A9BB8A8D3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F8B19-5130-BB4C-9790-D59818FAE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428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8D8B0-8C49-B837-BB15-042DF0E2D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C2E391-656E-731B-5204-279C6425A3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9B269D-89F5-15C5-2AD1-3B8B3B758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4900C-460B-3845-8518-31FFF519E67C}" type="datetimeFigureOut">
              <a:rPr lang="en-US" smtClean="0"/>
              <a:t>7/18/26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7964A2-055F-8CAA-EC51-95B4D46D7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7F57E6-79BB-8080-E761-14A36389D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F8B19-5130-BB4C-9790-D59818FAE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4549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BC3EF-EE89-882C-4D61-B58342BA5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34605-4DB2-FCB4-D9AF-8EE5F1A0F7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D01D23-1AEC-68EC-2A66-33470A65FE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BDC976-138E-6F42-69BC-66C5FD464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4900C-460B-3845-8518-31FFF519E67C}" type="datetimeFigureOut">
              <a:rPr lang="en-US" smtClean="0"/>
              <a:t>7/18/26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829C0B-2103-8380-0A27-253751727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D745E6-D52D-3844-8B57-69ED73E5F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F8B19-5130-BB4C-9790-D59818FAE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31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A67A0-18FC-07DE-2B99-636071C76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4EEF19-1DB3-D9F3-2997-EC29EBED8B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D13FBB-078F-6560-9E8B-F41DA17359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61DF65-8987-810D-9355-D1DFF78260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0D021D-634C-C1F6-CD63-0C77FBA553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C59C4F-DA08-B985-FA72-B8D57DB63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4900C-460B-3845-8518-31FFF519E67C}" type="datetimeFigureOut">
              <a:rPr lang="en-US" smtClean="0"/>
              <a:t>7/18/26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2852B3-6B97-1855-3090-827EE0615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0462B6-E198-2C25-EC60-1650B33D2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F8B19-5130-BB4C-9790-D59818FAE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252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FE794-343C-1DE9-20EF-43E8BA421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2BD3F1-F07C-8404-2464-185781387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4900C-460B-3845-8518-31FFF519E67C}" type="datetimeFigureOut">
              <a:rPr lang="en-US" smtClean="0"/>
              <a:t>7/18/26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ABA8F1-93FF-1320-B6DA-15DF89B52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09553A-F5C4-F48A-BFC9-285A1866C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F8B19-5130-BB4C-9790-D59818FAE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385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03665A-502B-EC62-D7E6-FEFCD0DE2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4900C-460B-3845-8518-31FFF519E67C}" type="datetimeFigureOut">
              <a:rPr lang="en-US" smtClean="0"/>
              <a:t>7/18/26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E8FCD6-4E10-837A-4EDC-C803B036F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A7B653-D013-EDF1-70DE-F472ADC3D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F8B19-5130-BB4C-9790-D59818FAE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710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6049D-06F1-5917-3746-11FD7FCB2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EA273C-510C-A20F-E198-2762EA506F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515668-459E-30E4-00D1-D5B85558B1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719DC7-6554-C54C-4D3D-69D52B2EA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4900C-460B-3845-8518-31FFF519E67C}" type="datetimeFigureOut">
              <a:rPr lang="en-US" smtClean="0"/>
              <a:t>7/18/26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12314F-AC62-2B95-A63E-EAFF580E6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3AE6C3-FCC2-5C1C-2993-800B2D886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F8B19-5130-BB4C-9790-D59818FAE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928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CEBC4-AF5F-2A36-FC9A-37546EAA3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F1FFF5-85C9-F8B6-C826-9343AC56F7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121DAB-7E61-D254-80F4-5B0BF5E786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C39620-EFB2-8901-BCEE-C81819B3A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4900C-460B-3845-8518-31FFF519E67C}" type="datetimeFigureOut">
              <a:rPr lang="en-US" smtClean="0"/>
              <a:t>7/18/26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5A9B6C-84A7-F869-BD3B-06638C59A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CFC789-C47D-5CFA-822D-C96A32B50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F8B19-5130-BB4C-9790-D59818FAE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617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8E1F1-59B2-70B7-0525-98C023FCA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429D57-99D8-5134-702E-A283ECA9C6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559EAC-D125-0FB0-848D-4A2D69A09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4900C-460B-3845-8518-31FFF519E67C}" type="datetimeFigureOut">
              <a:rPr lang="en-US" smtClean="0"/>
              <a:t>7/18/26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EAFFA9-28A7-8177-9EBA-03C77B869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4A2182-AD15-2AC1-3641-01A5ED662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F8B19-5130-BB4C-9790-D59818FAE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589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0F8E93-9288-1607-BDAC-F5B64E021E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AC2D7D-2C86-9567-67DB-A1F3860754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C6C453-B1C3-FEE1-3889-B04D77B25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4900C-460B-3845-8518-31FFF519E67C}" type="datetimeFigureOut">
              <a:rPr lang="en-US" smtClean="0"/>
              <a:t>7/18/26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164DCE-7082-38E8-1BBC-58A62FA33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D499F4-9505-1194-49BC-1BB9582A9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F8B19-5130-BB4C-9790-D59818FAE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261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6B89D4-31E3-7362-24F2-40F99C854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423234-18C7-221C-5B29-43AB56EAD9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0A2820-A43F-BAA8-4090-EEA16A29B4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54900C-460B-3845-8518-31FFF519E67C}" type="datetimeFigureOut">
              <a:rPr lang="en-US" smtClean="0"/>
              <a:t>7/18/26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409F4-8AB0-81DE-6792-208C7DF334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21AE1F-C753-4C92-74E4-8E964B62D8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CF8B19-5130-BB4C-9790-D59818FAE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351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950AD4C-6AF3-49F8-94E1-DBCAFB394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tint val="95000"/>
              <a:satMod val="1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Meiryo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DBEAE55-3EA1-41D7-A212-5F7D8986C1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212206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CFC5F0E7-644F-4101-BE72-12825CF537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417551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974282-2609-E383-8762-7DBFF1257C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8168"/>
          <a:stretch>
            <a:fillRect/>
          </a:stretch>
        </p:blipFill>
        <p:spPr>
          <a:xfrm>
            <a:off x="2644776" y="10"/>
            <a:ext cx="9547224" cy="6857990"/>
          </a:xfrm>
          <a:custGeom>
            <a:avLst/>
            <a:gdLst/>
            <a:ahLst/>
            <a:cxnLst/>
            <a:rect l="l" t="t" r="r" b="b"/>
            <a:pathLst>
              <a:path w="9547224" h="6858000">
                <a:moveTo>
                  <a:pt x="1623023" y="0"/>
                </a:moveTo>
                <a:lnTo>
                  <a:pt x="2716256" y="0"/>
                </a:lnTo>
                <a:lnTo>
                  <a:pt x="3032455" y="0"/>
                </a:lnTo>
                <a:lnTo>
                  <a:pt x="3496422" y="0"/>
                </a:lnTo>
                <a:lnTo>
                  <a:pt x="5205951" y="0"/>
                </a:lnTo>
                <a:lnTo>
                  <a:pt x="9547224" y="0"/>
                </a:lnTo>
                <a:lnTo>
                  <a:pt x="9547224" y="6858000"/>
                </a:lnTo>
                <a:lnTo>
                  <a:pt x="5205951" y="6858000"/>
                </a:lnTo>
                <a:lnTo>
                  <a:pt x="3496422" y="6858000"/>
                </a:lnTo>
                <a:lnTo>
                  <a:pt x="3032455" y="6858000"/>
                </a:lnTo>
                <a:lnTo>
                  <a:pt x="2716256" y="6858000"/>
                </a:lnTo>
                <a:lnTo>
                  <a:pt x="2502754" y="6858000"/>
                </a:lnTo>
                <a:lnTo>
                  <a:pt x="2390998" y="6780599"/>
                </a:lnTo>
                <a:cubicBezTo>
                  <a:pt x="2217180" y="6653108"/>
                  <a:pt x="2046553" y="6515397"/>
                  <a:pt x="1874350" y="6374814"/>
                </a:cubicBezTo>
                <a:cubicBezTo>
                  <a:pt x="928725" y="5602839"/>
                  <a:pt x="0" y="4969131"/>
                  <a:pt x="0" y="3621656"/>
                </a:cubicBezTo>
                <a:cubicBezTo>
                  <a:pt x="0" y="2093192"/>
                  <a:pt x="573736" y="754641"/>
                  <a:pt x="1600899" y="14997"/>
                </a:cubicBezTo>
                <a:close/>
              </a:path>
            </a:pathLst>
          </a:custGeom>
        </p:spPr>
      </p:pic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1F9B6B4-B0C4-45C6-A086-901C960D03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644774" y="0"/>
            <a:ext cx="2756893" cy="6858000"/>
          </a:xfrm>
          <a:custGeom>
            <a:avLst/>
            <a:gdLst>
              <a:gd name="connsiteX0" fmla="*/ 1133870 w 2756893"/>
              <a:gd name="connsiteY0" fmla="*/ 0 h 6858000"/>
              <a:gd name="connsiteX1" fmla="*/ 898082 w 2756893"/>
              <a:gd name="connsiteY1" fmla="*/ 0 h 6858000"/>
              <a:gd name="connsiteX2" fmla="*/ 920668 w 2756893"/>
              <a:gd name="connsiteY2" fmla="*/ 14997 h 6858000"/>
              <a:gd name="connsiteX3" fmla="*/ 2554961 w 2756893"/>
              <a:gd name="connsiteY3" fmla="*/ 3621656 h 6858000"/>
              <a:gd name="connsiteX4" fmla="*/ 641513 w 2756893"/>
              <a:gd name="connsiteY4" fmla="*/ 6374814 h 6858000"/>
              <a:gd name="connsiteX5" fmla="*/ 114086 w 2756893"/>
              <a:gd name="connsiteY5" fmla="*/ 6780599 h 6858000"/>
              <a:gd name="connsiteX6" fmla="*/ 0 w 2756893"/>
              <a:gd name="connsiteY6" fmla="*/ 6858000 h 6858000"/>
              <a:gd name="connsiteX7" fmla="*/ 40637 w 2756893"/>
              <a:gd name="connsiteY7" fmla="*/ 6858000 h 6858000"/>
              <a:gd name="connsiteX8" fmla="*/ 254139 w 2756893"/>
              <a:gd name="connsiteY8" fmla="*/ 6858000 h 6858000"/>
              <a:gd name="connsiteX9" fmla="*/ 365895 w 2756893"/>
              <a:gd name="connsiteY9" fmla="*/ 6780599 h 6858000"/>
              <a:gd name="connsiteX10" fmla="*/ 882543 w 2756893"/>
              <a:gd name="connsiteY10" fmla="*/ 6374814 h 6858000"/>
              <a:gd name="connsiteX11" fmla="*/ 2756893 w 2756893"/>
              <a:gd name="connsiteY11" fmla="*/ 3621656 h 6858000"/>
              <a:gd name="connsiteX12" fmla="*/ 1155994 w 2756893"/>
              <a:gd name="connsiteY12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756893" h="6858000">
                <a:moveTo>
                  <a:pt x="1133870" y="0"/>
                </a:moveTo>
                <a:lnTo>
                  <a:pt x="898082" y="0"/>
                </a:lnTo>
                <a:lnTo>
                  <a:pt x="920668" y="14997"/>
                </a:lnTo>
                <a:cubicBezTo>
                  <a:pt x="1969257" y="754641"/>
                  <a:pt x="2554961" y="2093192"/>
                  <a:pt x="2554961" y="3621656"/>
                </a:cubicBezTo>
                <a:cubicBezTo>
                  <a:pt x="2554961" y="4969131"/>
                  <a:pt x="1606863" y="5602839"/>
                  <a:pt x="641513" y="6374814"/>
                </a:cubicBezTo>
                <a:cubicBezTo>
                  <a:pt x="465717" y="6515397"/>
                  <a:pt x="291531" y="6653108"/>
                  <a:pt x="114086" y="6780599"/>
                </a:cubicBezTo>
                <a:lnTo>
                  <a:pt x="0" y="6858000"/>
                </a:lnTo>
                <a:lnTo>
                  <a:pt x="40637" y="6858000"/>
                </a:lnTo>
                <a:lnTo>
                  <a:pt x="254139" y="6858000"/>
                </a:lnTo>
                <a:lnTo>
                  <a:pt x="365895" y="6780599"/>
                </a:lnTo>
                <a:cubicBezTo>
                  <a:pt x="539713" y="6653108"/>
                  <a:pt x="710340" y="6515397"/>
                  <a:pt x="882543" y="6374814"/>
                </a:cubicBezTo>
                <a:cubicBezTo>
                  <a:pt x="1828168" y="5602839"/>
                  <a:pt x="2756893" y="4969131"/>
                  <a:pt x="2756893" y="3621656"/>
                </a:cubicBezTo>
                <a:cubicBezTo>
                  <a:pt x="2756893" y="2093192"/>
                  <a:pt x="2183157" y="754641"/>
                  <a:pt x="1155994" y="14997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B4ADB2-08BF-5BD5-EB4B-AF5550E78BDF}"/>
              </a:ext>
            </a:extLst>
          </p:cNvPr>
          <p:cNvSpPr/>
          <p:nvPr/>
        </p:nvSpPr>
        <p:spPr>
          <a:xfrm>
            <a:off x="-112542" y="5683170"/>
            <a:ext cx="12435840" cy="972273"/>
          </a:xfrm>
          <a:prstGeom prst="rect">
            <a:avLst/>
          </a:prstGeom>
          <a:solidFill>
            <a:srgbClr val="9A1A3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4ED698C-99C5-3060-C7B7-2A8859680F0B}"/>
              </a:ext>
            </a:extLst>
          </p:cNvPr>
          <p:cNvSpPr/>
          <p:nvPr/>
        </p:nvSpPr>
        <p:spPr>
          <a:xfrm>
            <a:off x="-816253" y="348818"/>
            <a:ext cx="4642665" cy="707886"/>
          </a:xfrm>
          <a:prstGeom prst="rect">
            <a:avLst/>
          </a:prstGeom>
          <a:solidFill>
            <a:srgbClr val="9A1A3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467964-50DB-1647-C78E-442A7FD310A7}"/>
              </a:ext>
            </a:extLst>
          </p:cNvPr>
          <p:cNvSpPr txBox="1"/>
          <p:nvPr/>
        </p:nvSpPr>
        <p:spPr>
          <a:xfrm>
            <a:off x="35807" y="334750"/>
            <a:ext cx="353654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Copperplate" panose="02000504000000020004" pitchFamily="2" charset="77"/>
              </a:rPr>
              <a:t>Winner 2025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D2DFB80-D9EE-BB40-0958-2E7A5209D48F}"/>
              </a:ext>
            </a:extLst>
          </p:cNvPr>
          <p:cNvSpPr txBox="1"/>
          <p:nvPr/>
        </p:nvSpPr>
        <p:spPr>
          <a:xfrm>
            <a:off x="0" y="5776824"/>
            <a:ext cx="506260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Copperplate" panose="02000504000000020004" pitchFamily="2" charset="77"/>
              </a:rPr>
              <a:t>Maite den butter  |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C657D8B-84F4-DC90-EBD7-0ACF46D1755A}"/>
              </a:ext>
            </a:extLst>
          </p:cNvPr>
          <p:cNvSpPr txBox="1"/>
          <p:nvPr/>
        </p:nvSpPr>
        <p:spPr>
          <a:xfrm>
            <a:off x="5267949" y="5962647"/>
            <a:ext cx="691086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solidFill>
                  <a:srgbClr val="FB879A"/>
                </a:solidFill>
                <a:latin typeface="Copperplate" panose="02000504000000020004" pitchFamily="2" charset="77"/>
              </a:rPr>
              <a:t>Broad perspectives on prosperity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46D25DD-220E-0648-7A02-C2ACE065142B}"/>
              </a:ext>
            </a:extLst>
          </p:cNvPr>
          <p:cNvSpPr txBox="1"/>
          <p:nvPr/>
        </p:nvSpPr>
        <p:spPr>
          <a:xfrm>
            <a:off x="6096000" y="5461932"/>
            <a:ext cx="505138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>
                <a:solidFill>
                  <a:srgbClr val="F1CFD7"/>
                </a:solidFill>
                <a:latin typeface="Elizabeth Script" panose="02000507020000020002" pitchFamily="2" charset="0"/>
                <a:cs typeface="gratitude" pitchFamily="2" charset="-79"/>
              </a:rPr>
              <a:t>REmagine</a:t>
            </a:r>
            <a:r>
              <a:rPr lang="en-US" sz="4000" dirty="0">
                <a:solidFill>
                  <a:srgbClr val="F1CFD7"/>
                </a:solidFill>
                <a:latin typeface="Elizabeth Script" panose="02000507020000020002" pitchFamily="2" charset="0"/>
                <a:cs typeface="gratitude" pitchFamily="2" charset="-79"/>
              </a:rPr>
              <a:t> Award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6F1607C-13FB-F725-D8C6-C4CF99E67DD7}"/>
              </a:ext>
            </a:extLst>
          </p:cNvPr>
          <p:cNvCxnSpPr/>
          <p:nvPr/>
        </p:nvCxnSpPr>
        <p:spPr>
          <a:xfrm>
            <a:off x="295422" y="1266092"/>
            <a:ext cx="2122129" cy="0"/>
          </a:xfrm>
          <a:prstGeom prst="line">
            <a:avLst/>
          </a:prstGeom>
          <a:ln>
            <a:solidFill>
              <a:srgbClr val="9A1A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DB41F90D-EE75-E6FC-691A-56600373EB0F}"/>
              </a:ext>
            </a:extLst>
          </p:cNvPr>
          <p:cNvSpPr txBox="1"/>
          <p:nvPr/>
        </p:nvSpPr>
        <p:spPr>
          <a:xfrm>
            <a:off x="493387" y="1391444"/>
            <a:ext cx="166254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9A1A31"/>
                </a:solidFill>
              </a:rPr>
              <a:t>Rewarding ideas for a fairer and more inclusive future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71D0A4A9-D028-44F5-F006-FD3B91B95165}"/>
              </a:ext>
            </a:extLst>
          </p:cNvPr>
          <p:cNvSpPr/>
          <p:nvPr/>
        </p:nvSpPr>
        <p:spPr>
          <a:xfrm>
            <a:off x="295421" y="3183891"/>
            <a:ext cx="2122129" cy="2184160"/>
          </a:xfrm>
          <a:prstGeom prst="roundRect">
            <a:avLst/>
          </a:prstGeom>
          <a:solidFill>
            <a:srgbClr val="9A1A31"/>
          </a:solidFill>
          <a:ln>
            <a:solidFill>
              <a:srgbClr val="9A1A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D5D36EEA-BFC0-A858-820F-D47BB9DF3523}"/>
              </a:ext>
            </a:extLst>
          </p:cNvPr>
          <p:cNvSpPr/>
          <p:nvPr/>
        </p:nvSpPr>
        <p:spPr>
          <a:xfrm>
            <a:off x="610831" y="3439066"/>
            <a:ext cx="4204280" cy="497483"/>
          </a:xfrm>
          <a:prstGeom prst="roundRect">
            <a:avLst/>
          </a:prstGeom>
          <a:solidFill>
            <a:srgbClr val="F1CFD7"/>
          </a:solidFill>
          <a:ln>
            <a:solidFill>
              <a:srgbClr val="F1CF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90E5F4C-9C93-A1BD-F83D-E8831A158840}"/>
              </a:ext>
            </a:extLst>
          </p:cNvPr>
          <p:cNvSpPr txBox="1"/>
          <p:nvPr/>
        </p:nvSpPr>
        <p:spPr>
          <a:xfrm>
            <a:off x="1775971" y="3487752"/>
            <a:ext cx="17684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9A1A31"/>
                </a:solidFill>
                <a:latin typeface="Copperplate" panose="02000504000000020004" pitchFamily="2" charset="77"/>
              </a:rPr>
              <a:t>supervisors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D446623F-0F30-37C8-3956-F9A349077705}"/>
              </a:ext>
            </a:extLst>
          </p:cNvPr>
          <p:cNvSpPr/>
          <p:nvPr/>
        </p:nvSpPr>
        <p:spPr>
          <a:xfrm>
            <a:off x="979838" y="4030203"/>
            <a:ext cx="4204280" cy="497483"/>
          </a:xfrm>
          <a:prstGeom prst="roundRect">
            <a:avLst/>
          </a:prstGeom>
          <a:solidFill>
            <a:srgbClr val="F1CFD7"/>
          </a:solidFill>
          <a:ln>
            <a:solidFill>
              <a:srgbClr val="F1CF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501A9BAD-650C-B395-31A2-905B79D8E5CC}"/>
              </a:ext>
            </a:extLst>
          </p:cNvPr>
          <p:cNvSpPr/>
          <p:nvPr/>
        </p:nvSpPr>
        <p:spPr>
          <a:xfrm>
            <a:off x="610831" y="4621637"/>
            <a:ext cx="4204280" cy="497483"/>
          </a:xfrm>
          <a:prstGeom prst="roundRect">
            <a:avLst/>
          </a:prstGeom>
          <a:solidFill>
            <a:srgbClr val="F1CFD7"/>
          </a:solidFill>
          <a:ln>
            <a:solidFill>
              <a:srgbClr val="F1CF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064DA12-A3B9-D631-9280-C99FF30F2629}"/>
              </a:ext>
            </a:extLst>
          </p:cNvPr>
          <p:cNvSpPr txBox="1"/>
          <p:nvPr/>
        </p:nvSpPr>
        <p:spPr>
          <a:xfrm>
            <a:off x="1918358" y="4094278"/>
            <a:ext cx="23264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9A1A31"/>
                </a:solidFill>
              </a:rPr>
              <a:t>Anna Lou Abatayo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A4AE7D3-988B-FD79-BFEE-74944B4D91B6}"/>
              </a:ext>
            </a:extLst>
          </p:cNvPr>
          <p:cNvSpPr txBox="1"/>
          <p:nvPr/>
        </p:nvSpPr>
        <p:spPr>
          <a:xfrm>
            <a:off x="1391159" y="4680885"/>
            <a:ext cx="23264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9A1A31"/>
                </a:solidFill>
              </a:rPr>
              <a:t>Andries Richter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E4B674FC-DC4F-A231-FE52-DC2BC46742AE}"/>
              </a:ext>
            </a:extLst>
          </p:cNvPr>
          <p:cNvSpPr/>
          <p:nvPr/>
        </p:nvSpPr>
        <p:spPr>
          <a:xfrm>
            <a:off x="1660338" y="3659135"/>
            <a:ext cx="91440" cy="91440"/>
          </a:xfrm>
          <a:prstGeom prst="ellipse">
            <a:avLst/>
          </a:prstGeom>
          <a:solidFill>
            <a:srgbClr val="9A1A3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9A21CD94-0944-FAC4-F999-A14667375C18}"/>
              </a:ext>
            </a:extLst>
          </p:cNvPr>
          <p:cNvSpPr/>
          <p:nvPr/>
        </p:nvSpPr>
        <p:spPr>
          <a:xfrm>
            <a:off x="3535284" y="3655687"/>
            <a:ext cx="91440" cy="91440"/>
          </a:xfrm>
          <a:prstGeom prst="ellipse">
            <a:avLst/>
          </a:prstGeom>
          <a:solidFill>
            <a:srgbClr val="9A1A3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4832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C746CEA3-6FCE-5FF4-9C0F-88F6F11BA272}"/>
              </a:ext>
            </a:extLst>
          </p:cNvPr>
          <p:cNvSpPr/>
          <p:nvPr/>
        </p:nvSpPr>
        <p:spPr>
          <a:xfrm>
            <a:off x="0" y="0"/>
            <a:ext cx="12190476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6" name="Content Placeholder 4">
            <a:extLst>
              <a:ext uri="{FF2B5EF4-FFF2-40B4-BE49-F238E27FC236}">
                <a16:creationId xmlns:a16="http://schemas.microsoft.com/office/drawing/2014/main" id="{5B471A9D-DAFC-2DF8-8EFE-63C4A0CE00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03"/>
          <a:stretch>
            <a:fillRect/>
          </a:stretch>
        </p:blipFill>
        <p:spPr>
          <a:xfrm>
            <a:off x="547375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BE142D-DEA5-08EB-5A62-549919B0AA64}"/>
              </a:ext>
            </a:extLst>
          </p:cNvPr>
          <p:cNvSpPr txBox="1"/>
          <p:nvPr/>
        </p:nvSpPr>
        <p:spPr>
          <a:xfrm>
            <a:off x="0" y="462987"/>
            <a:ext cx="5968301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accent6">
                    <a:lumMod val="75000"/>
                  </a:schemeClr>
                </a:solidFill>
                <a:latin typeface="Elizabeth Script" panose="02000507020000020002" pitchFamily="2" charset="0"/>
              </a:rPr>
              <a:t>Congratulations!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72C1F3-3538-C487-410E-6FAFB9A82A44}"/>
              </a:ext>
            </a:extLst>
          </p:cNvPr>
          <p:cNvSpPr txBox="1"/>
          <p:nvPr/>
        </p:nvSpPr>
        <p:spPr>
          <a:xfrm>
            <a:off x="300943" y="1301611"/>
            <a:ext cx="414373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dirty="0">
                <a:solidFill>
                  <a:schemeClr val="accent1">
                    <a:lumMod val="75000"/>
                  </a:schemeClr>
                </a:solidFill>
              </a:rPr>
              <a:t>Anna Lou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66CC0B-1D7D-1E8E-D065-5C9C26A67BAD}"/>
              </a:ext>
            </a:extLst>
          </p:cNvPr>
          <p:cNvSpPr txBox="1"/>
          <p:nvPr/>
        </p:nvSpPr>
        <p:spPr>
          <a:xfrm>
            <a:off x="276269" y="3090497"/>
            <a:ext cx="17860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on winning the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F3D46E0-7426-480F-08EB-055B3BE1AAAB}"/>
              </a:ext>
            </a:extLst>
          </p:cNvPr>
          <p:cNvSpPr/>
          <p:nvPr/>
        </p:nvSpPr>
        <p:spPr>
          <a:xfrm>
            <a:off x="0" y="3490607"/>
            <a:ext cx="5278056" cy="479509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8EDEFB-9985-2840-2908-9DD5D014E843}"/>
              </a:ext>
            </a:extLst>
          </p:cNvPr>
          <p:cNvSpPr txBox="1"/>
          <p:nvPr/>
        </p:nvSpPr>
        <p:spPr>
          <a:xfrm>
            <a:off x="0" y="3508451"/>
            <a:ext cx="5200526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300" b="1" dirty="0">
                <a:solidFill>
                  <a:schemeClr val="bg1"/>
                </a:solidFill>
              </a:rPr>
              <a:t>NWO Open Competition SSH XS grant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3EF9F2-882C-1F6B-9CDF-747B96E3777D}"/>
              </a:ext>
            </a:extLst>
          </p:cNvPr>
          <p:cNvSpPr txBox="1"/>
          <p:nvPr/>
        </p:nvSpPr>
        <p:spPr>
          <a:xfrm>
            <a:off x="1549889" y="4035454"/>
            <a:ext cx="1576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for her project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C40EEF-C9FC-2DB0-539E-E744DAED69A0}"/>
              </a:ext>
            </a:extLst>
          </p:cNvPr>
          <p:cNvSpPr txBox="1"/>
          <p:nvPr/>
        </p:nvSpPr>
        <p:spPr>
          <a:xfrm>
            <a:off x="1549889" y="4342437"/>
            <a:ext cx="2624886" cy="1015663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000" b="1" i="1" dirty="0">
                <a:solidFill>
                  <a:schemeClr val="accent6">
                    <a:lumMod val="75000"/>
                  </a:schemeClr>
                </a:solidFill>
              </a:rPr>
              <a:t>Why Here? Drivers of</a:t>
            </a:r>
          </a:p>
          <a:p>
            <a:r>
              <a:rPr lang="en-US" sz="2000" b="1" i="1" dirty="0">
                <a:solidFill>
                  <a:schemeClr val="accent6">
                    <a:lumMod val="75000"/>
                  </a:schemeClr>
                </a:solidFill>
              </a:rPr>
              <a:t>Marine Protection in </a:t>
            </a:r>
          </a:p>
          <a:p>
            <a:r>
              <a:rPr lang="en-US" sz="2000" b="1" i="1" dirty="0">
                <a:solidFill>
                  <a:schemeClr val="accent6">
                    <a:lumMod val="75000"/>
                  </a:schemeClr>
                </a:solidFill>
              </a:rPr>
              <a:t>The Coral Triangle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6F0BC58-6327-65C9-3312-74411DDEE6F6}"/>
              </a:ext>
            </a:extLst>
          </p:cNvPr>
          <p:cNvCxnSpPr/>
          <p:nvPr/>
        </p:nvCxnSpPr>
        <p:spPr>
          <a:xfrm>
            <a:off x="347243" y="5392825"/>
            <a:ext cx="414373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DFEE2C0-6B32-28B5-4CAF-65627B749DB8}"/>
              </a:ext>
            </a:extLst>
          </p:cNvPr>
          <p:cNvSpPr txBox="1"/>
          <p:nvPr/>
        </p:nvSpPr>
        <p:spPr>
          <a:xfrm>
            <a:off x="276269" y="5505911"/>
            <a:ext cx="4148572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Her project investigates the determinants of marine</a:t>
            </a:r>
          </a:p>
          <a:p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protected area placement in the Coral Triangle – </a:t>
            </a:r>
          </a:p>
          <a:p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the world’s most biodiverse marine region – and </a:t>
            </a:r>
          </a:p>
          <a:p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Provides new evidence on how conservation</a:t>
            </a:r>
          </a:p>
          <a:p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Priorities translate into spatial protection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5C72098-669F-2527-8B32-82B84E38A766}"/>
              </a:ext>
            </a:extLst>
          </p:cNvPr>
          <p:cNvSpPr/>
          <p:nvPr/>
        </p:nvSpPr>
        <p:spPr>
          <a:xfrm>
            <a:off x="9579521" y="4625331"/>
            <a:ext cx="2560320" cy="256032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42B94D3-80EC-9D00-ABEA-32D1D20EDDE1}"/>
              </a:ext>
            </a:extLst>
          </p:cNvPr>
          <p:cNvSpPr txBox="1"/>
          <p:nvPr/>
        </p:nvSpPr>
        <p:spPr>
          <a:xfrm>
            <a:off x="9852577" y="5023413"/>
            <a:ext cx="199105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Supporting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innovative and </a:t>
            </a:r>
          </a:p>
          <a:p>
            <a:pPr algn="ctr"/>
            <a:r>
              <a:rPr lang="en-US" sz="1600" dirty="0">
                <a:solidFill>
                  <a:schemeClr val="accent6"/>
                </a:solidFill>
              </a:rPr>
              <a:t>bold ideas</a:t>
            </a:r>
            <a:r>
              <a:rPr lang="en-US" sz="1600" dirty="0">
                <a:solidFill>
                  <a:schemeClr val="bg1"/>
                </a:solidFill>
              </a:rPr>
              <a:t> that open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new directions in 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the social sciences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and humanities.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3592D9E-48B0-3BC8-DBAB-63D20B72CDA7}"/>
              </a:ext>
            </a:extLst>
          </p:cNvPr>
          <p:cNvSpPr txBox="1"/>
          <p:nvPr/>
        </p:nvSpPr>
        <p:spPr>
          <a:xfrm>
            <a:off x="300943" y="2041770"/>
            <a:ext cx="414373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dirty="0">
                <a:solidFill>
                  <a:schemeClr val="accent1">
                    <a:lumMod val="75000"/>
                  </a:schemeClr>
                </a:solidFill>
              </a:rPr>
              <a:t>Abatayo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5A3EE8AC-33AA-C5CB-635D-452A1243EA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269" y="3979737"/>
            <a:ext cx="1301611" cy="1301611"/>
          </a:xfrm>
          <a:prstGeom prst="rect">
            <a:avLst/>
          </a:prstGeom>
        </p:spPr>
      </p:pic>
      <p:sp>
        <p:nvSpPr>
          <p:cNvPr id="27" name="Terminator 26">
            <a:extLst>
              <a:ext uri="{FF2B5EF4-FFF2-40B4-BE49-F238E27FC236}">
                <a16:creationId xmlns:a16="http://schemas.microsoft.com/office/drawing/2014/main" id="{61BB2D7D-A528-5BCC-EF77-3D01C2821AA7}"/>
              </a:ext>
            </a:extLst>
          </p:cNvPr>
          <p:cNvSpPr/>
          <p:nvPr/>
        </p:nvSpPr>
        <p:spPr>
          <a:xfrm rot="20898376">
            <a:off x="5620348" y="209104"/>
            <a:ext cx="53370" cy="258327"/>
          </a:xfrm>
          <a:prstGeom prst="flowChartTerminator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rminator 27">
            <a:extLst>
              <a:ext uri="{FF2B5EF4-FFF2-40B4-BE49-F238E27FC236}">
                <a16:creationId xmlns:a16="http://schemas.microsoft.com/office/drawing/2014/main" id="{FE161960-8948-E477-D630-B97F9D647C36}"/>
              </a:ext>
            </a:extLst>
          </p:cNvPr>
          <p:cNvSpPr/>
          <p:nvPr/>
        </p:nvSpPr>
        <p:spPr>
          <a:xfrm rot="1367448">
            <a:off x="5838263" y="216021"/>
            <a:ext cx="53370" cy="258327"/>
          </a:xfrm>
          <a:prstGeom prst="flowChartTerminator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rminator 28">
            <a:extLst>
              <a:ext uri="{FF2B5EF4-FFF2-40B4-BE49-F238E27FC236}">
                <a16:creationId xmlns:a16="http://schemas.microsoft.com/office/drawing/2014/main" id="{8A46020A-C31E-DD61-34DC-4E3E7DBE5590}"/>
              </a:ext>
            </a:extLst>
          </p:cNvPr>
          <p:cNvSpPr/>
          <p:nvPr/>
        </p:nvSpPr>
        <p:spPr>
          <a:xfrm rot="3455302">
            <a:off x="5986247" y="352571"/>
            <a:ext cx="53370" cy="258327"/>
          </a:xfrm>
          <a:prstGeom prst="flowChartTerminator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8002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1067</TotalTime>
  <Words>105</Words>
  <Application>Microsoft Macintosh PowerPoint</Application>
  <PresentationFormat>Widescreen</PresentationFormat>
  <Paragraphs>28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Meiryo</vt:lpstr>
      <vt:lpstr>Aptos</vt:lpstr>
      <vt:lpstr>Aptos Display</vt:lpstr>
      <vt:lpstr>Arial</vt:lpstr>
      <vt:lpstr>Copperplate</vt:lpstr>
      <vt:lpstr>Elizabeth Script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Anna Lou Abatayo</dc:creator>
  <cp:lastModifiedBy>Anna Lou Abatayo</cp:lastModifiedBy>
  <cp:revision>1</cp:revision>
  <dcterms:created xsi:type="dcterms:W3CDTF">2026-07-18T21:32:16Z</dcterms:created>
  <dcterms:modified xsi:type="dcterms:W3CDTF">2026-07-19T15:19:59Z</dcterms:modified>
</cp:coreProperties>
</file>